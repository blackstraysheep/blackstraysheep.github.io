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66" r:id="rId5"/>
    <p:sldId id="258" r:id="rId6"/>
    <p:sldId id="270" r:id="rId7"/>
    <p:sldId id="262" r:id="rId8"/>
    <p:sldId id="259" r:id="rId9"/>
    <p:sldId id="260" r:id="rId10"/>
    <p:sldId id="263" r:id="rId11"/>
    <p:sldId id="267" r:id="rId12"/>
    <p:sldId id="265" r:id="rId13"/>
    <p:sldId id="272" r:id="rId14"/>
    <p:sldId id="264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14548-D2AB-49EF-A567-B5800C43ED8E}" v="1" dt="2022-08-20T23:38:26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6" d="100"/>
          <a:sy n="96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F9AAC-03C3-4764-9733-096FD561A058}" type="datetimeFigureOut">
              <a:rPr kumimoji="1" lang="ja-JP" altLang="en-US" smtClean="0"/>
              <a:t>2022/8/21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5357B-5B39-4D61-8558-7988B76940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338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961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0432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25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>
              <a:latin typeface="Calibri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583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>
              <a:latin typeface="Calibri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57B-5B39-4D61-8558-7988B769407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74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51DC-D60F-47B4-9E24-A2431F3A663A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EB8AF-58AB-4CC5-9795-64647F6E636A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59B3-5B78-476D-8AF6-85C9FA20D069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ED5F-2764-4D1A-BEFA-63B3737B0DC2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A458C-551B-46FE-99A6-C01E69177ECD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AEC29-ACE3-495E-88AA-B4B6836A2E53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6B3ED-D14B-4F73-BB25-BC78F80D3938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16B58-537E-46BB-A57D-DD32A72E577D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34711-B776-4FFE-AA2B-32303B4B31CC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7307-E363-456D-967C-5075AFEF8EFD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FAD10-3959-407F-B97C-C29A7C5615FB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71E0-3A5E-4FBE-B6A2-81E1E8E4F46F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3BA9-64A3-409A-ADA3-035DCB449A31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66143-815D-465C-9235-B9DD9CD52297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7524-EDD3-4BFE-80F2-E912080AEC34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64291-A7AF-4F6A-ABD6-8B21971A721B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CD7EC0AA-B42A-4F6A-BF3D-ED283FC9E280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8D471-5CBA-4D7C-8133-88F6BBAA6544}" type="datetime1">
              <a:rPr lang="en-US" altLang="ja-JP" smtClean="0"/>
              <a:t>8/21/2022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panasonic.biz/appliance/cold_chain/dishwasher/merit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8A8DE6-F18C-ED0F-2ECF-83887E311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640" y="2733709"/>
            <a:ext cx="8529816" cy="1373070"/>
          </a:xfrm>
        </p:spPr>
        <p:txBody>
          <a:bodyPr/>
          <a:lstStyle/>
          <a:p>
            <a:r>
              <a:rPr kumimoji="1" lang="en-US" altLang="ja-JP"/>
              <a:t>Demolish </a:t>
            </a:r>
            <a:r>
              <a:rPr lang="en-US" altLang="ja-JP"/>
              <a:t>P</a:t>
            </a:r>
            <a:r>
              <a:rPr kumimoji="1" lang="en-US" altLang="ja-JP"/>
              <a:t>lastic </a:t>
            </a:r>
            <a:r>
              <a:rPr lang="en-US" altLang="ja-JP"/>
              <a:t>P</a:t>
            </a:r>
            <a:r>
              <a:rPr kumimoji="1" lang="en-US" altLang="ja-JP"/>
              <a:t>ackings!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A1B6AC5-2BDE-0FD4-BDFA-F518C53426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/>
              <a:t>Kengo Tamura, Kent Isa, Tomoharu</a:t>
            </a:r>
            <a:r>
              <a:rPr lang="en-US" altLang="ja-JP"/>
              <a:t> Koga</a:t>
            </a:r>
          </a:p>
          <a:p>
            <a:r>
              <a:rPr kumimoji="1" lang="en-US" altLang="ja-JP"/>
              <a:t> 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11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D761D-50C3-7550-09F3-4CC08549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1. Problem (1)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40D7B6-466C-DDD7-76EE-3F67FC4B5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912239" cy="35993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/>
              <a:t>Our school cafeteria used pottery for our lunch.</a:t>
            </a:r>
          </a:p>
          <a:p>
            <a:pPr>
              <a:lnSpc>
                <a:spcPct val="150000"/>
              </a:lnSpc>
            </a:pPr>
            <a:r>
              <a:rPr lang="en-US" altLang="ja-JP" sz="3200"/>
              <a:t>However, because of COVID-19, they start using plastic packings.</a:t>
            </a:r>
          </a:p>
          <a:p>
            <a:pPr>
              <a:lnSpc>
                <a:spcPct val="150000"/>
              </a:lnSpc>
            </a:pPr>
            <a:endParaRPr lang="en-US" altLang="ja-JP" sz="3200"/>
          </a:p>
          <a:p>
            <a:endParaRPr kumimoji="1" lang="en-US" altLang="ja-JP" sz="32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BB92369-3951-F77E-5C1F-3E6081429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641" t="9729" r="11677" b="10965"/>
          <a:stretch/>
        </p:blipFill>
        <p:spPr>
          <a:xfrm>
            <a:off x="8026400" y="4257040"/>
            <a:ext cx="3718560" cy="241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59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76692E-BAF1-BF44-9A0C-3BBDAB6C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 Problem (2)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8FEF93-2446-21EA-D5FD-69AC85D5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3200" dirty="0">
                <a:ea typeface="ＭＳ Ｐゴシック"/>
              </a:rPr>
              <a:t>If we use plastic packings for our lunch…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>
                <a:ea typeface="ＭＳ Ｐゴシック"/>
              </a:rPr>
              <a:t> </a:t>
            </a:r>
            <a:r>
              <a:rPr kumimoji="1" lang="en-US" altLang="ja-JP" sz="3200" dirty="0">
                <a:ea typeface="ＭＳ Ｐゴシック"/>
              </a:rPr>
              <a:t> </a:t>
            </a:r>
            <a:r>
              <a:rPr lang="en-US" altLang="ja-JP" sz="3200" dirty="0">
                <a:ea typeface="ＭＳ Ｐゴシック"/>
              </a:rPr>
              <a:t>10</a:t>
            </a:r>
            <a:r>
              <a:rPr kumimoji="1" lang="en-US" altLang="ja-JP" sz="3200" dirty="0">
                <a:ea typeface="ＭＳ Ｐゴシック"/>
              </a:rPr>
              <a:t>(g) x 3(packs at once)</a:t>
            </a:r>
            <a:r>
              <a:rPr lang="en-US" altLang="ja-JP" sz="3200" dirty="0">
                <a:ea typeface="ＭＳ Ｐゴシック"/>
              </a:rPr>
              <a:t>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>
                <a:ea typeface="ＭＳ Ｐゴシック"/>
              </a:rPr>
              <a:t>	</a:t>
            </a:r>
            <a:r>
              <a:rPr kumimoji="1" lang="en-US" altLang="ja-JP" sz="3200" dirty="0">
                <a:ea typeface="ＭＳ Ｐゴシック"/>
              </a:rPr>
              <a:t>x 500(students) x 200(days) =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3000</a:t>
            </a:r>
            <a:r>
              <a:rPr kumimoji="1" lang="en-US" altLang="ja-JP" sz="3200" dirty="0">
                <a:ea typeface="ＭＳ Ｐゴシック"/>
              </a:rPr>
              <a:t>(kg)</a:t>
            </a:r>
            <a:r>
              <a:rPr lang="en-US" altLang="ja-JP" sz="3200" dirty="0">
                <a:ea typeface="ＭＳ Ｐゴシック"/>
              </a:rPr>
              <a:t>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>
                <a:ea typeface="ＭＳ Ｐゴシック"/>
              </a:rPr>
              <a:t>			  of plastic will be used</a:t>
            </a:r>
            <a:r>
              <a:rPr lang="ja-JP" altLang="en-US" sz="3200" dirty="0">
                <a:ea typeface="ＭＳ Ｐゴシック"/>
              </a:rPr>
              <a:t>　</a:t>
            </a:r>
            <a:r>
              <a:rPr lang="en-US" altLang="ja-JP" sz="3200" dirty="0">
                <a:ea typeface="ＭＳ Ｐゴシック"/>
              </a:rPr>
              <a:t>each year.</a:t>
            </a:r>
            <a:endParaRPr kumimoji="1" lang="ja-JP" altLang="en-US" sz="3200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19642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90C285-1685-E731-161C-1ED05EA5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ea typeface="ＭＳ Ｐゴシック"/>
              </a:rPr>
              <a:t>1. Problem (3</a:t>
            </a:r>
            <a:r>
              <a:rPr lang="en-US" altLang="ja-JP" dirty="0">
                <a:ea typeface="ＭＳ Ｐゴシック"/>
              </a:rPr>
              <a:t>)</a:t>
            </a:r>
            <a:endParaRPr kumimoji="1" lang="ja-JP" altLang="en-US" dirty="0"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CD4C87-7D7F-74BF-118F-988231AAA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/>
              <a:t>When we use plastic packings for our lunch,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/>
              <a:t>  1) A lot of </a:t>
            </a:r>
            <a:r>
              <a:rPr lang="en-US" altLang="ja-JP" sz="3200" dirty="0">
                <a:solidFill>
                  <a:srgbClr val="FFFF00"/>
                </a:solidFill>
              </a:rPr>
              <a:t>microplastics</a:t>
            </a:r>
            <a:r>
              <a:rPr lang="en-US" altLang="ja-JP" sz="3200" dirty="0"/>
              <a:t> are generated. These   	microplastics will hurt the ecosystem.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/>
              <a:t>  2) We </a:t>
            </a:r>
            <a:r>
              <a:rPr lang="en-US" altLang="ja-JP" sz="3200" dirty="0">
                <a:solidFill>
                  <a:srgbClr val="FFFF00"/>
                </a:solidFill>
              </a:rPr>
              <a:t>eat</a:t>
            </a:r>
            <a:r>
              <a:rPr lang="en-US" altLang="ja-JP" sz="3200" dirty="0"/>
              <a:t> many </a:t>
            </a:r>
            <a:r>
              <a:rPr lang="en-US" altLang="ja-JP" sz="3200" dirty="0">
                <a:solidFill>
                  <a:srgbClr val="FFFF00"/>
                </a:solidFill>
              </a:rPr>
              <a:t>microplastics</a:t>
            </a:r>
            <a:r>
              <a:rPr lang="en-US" altLang="ja-JP" sz="32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ja-JP" sz="3200" dirty="0"/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ja-JP" sz="3200" dirty="0"/>
              <a:t>  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4427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2">
                <a:lumMod val="10000"/>
              </a:schemeClr>
            </a:gs>
            <a:gs pos="50000">
              <a:schemeClr val="tx2">
                <a:lumMod val="5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AC3404-C180-1466-CAA9-F828C46ECF3A}"/>
              </a:ext>
            </a:extLst>
          </p:cNvPr>
          <p:cNvSpPr txBox="1"/>
          <p:nvPr/>
        </p:nvSpPr>
        <p:spPr>
          <a:xfrm>
            <a:off x="1" y="0"/>
            <a:ext cx="12191999" cy="794063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kumimoji="1" lang="en-US" altLang="ja-JP" b="1"/>
          </a:p>
          <a:p>
            <a:r>
              <a:rPr kumimoji="1" lang="en-US" altLang="ja-JP" sz="3600" b="1">
                <a:ea typeface="ＭＳ Ｐゴシック"/>
              </a:rPr>
              <a:t>  </a:t>
            </a:r>
            <a:br>
              <a:rPr lang="en-US" altLang="ja-JP" sz="3600" b="1">
                <a:ea typeface="ＭＳ Ｐゴシック"/>
              </a:rPr>
            </a:br>
            <a:r>
              <a:rPr kumimoji="1" lang="en-US" altLang="ja-JP" sz="3600" b="1">
                <a:ea typeface="ＭＳ Ｐゴシック"/>
              </a:rPr>
              <a:t>   Message:</a:t>
            </a:r>
            <a:endParaRPr lang="en-US" altLang="ja-JP" sz="3600" b="1">
              <a:ea typeface="ＭＳ Ｐゴシック"/>
            </a:endParaRPr>
          </a:p>
          <a:p>
            <a:pPr algn="ctr">
              <a:lnSpc>
                <a:spcPct val="200000"/>
              </a:lnSpc>
            </a:pPr>
            <a:r>
              <a:rPr kumimoji="1" lang="en-US" altLang="ja-JP" sz="6000" b="1"/>
              <a:t> </a:t>
            </a:r>
            <a:r>
              <a:rPr kumimoji="1" lang="en-US" altLang="ja-JP" sz="6600" b="1" spc="300">
                <a:latin typeface="Palatino Linotype" panose="02040502050505030304" pitchFamily="18" charset="0"/>
                <a:cs typeface="Aharoni" panose="020B0604020202020204" pitchFamily="2" charset="-79"/>
              </a:rPr>
              <a:t>Stop eating plastic, </a:t>
            </a:r>
          </a:p>
          <a:p>
            <a:pPr algn="ctr">
              <a:lnSpc>
                <a:spcPct val="200000"/>
              </a:lnSpc>
            </a:pPr>
            <a:r>
              <a:rPr kumimoji="1" lang="en-US" altLang="ja-JP" sz="6600" b="1" spc="300">
                <a:latin typeface="Palatino Linotype" panose="02040502050505030304" pitchFamily="18" charset="0"/>
                <a:cs typeface="Aharoni" panose="020B0604020202020204" pitchFamily="2" charset="-79"/>
              </a:rPr>
              <a:t>stop hurting the ecosystem.</a:t>
            </a:r>
          </a:p>
          <a:p>
            <a:pPr algn="ctr">
              <a:lnSpc>
                <a:spcPct val="200000"/>
              </a:lnSpc>
            </a:pPr>
            <a:endParaRPr kumimoji="1" lang="en-US" altLang="ja-JP" sz="6000" b="1"/>
          </a:p>
          <a:p>
            <a:pPr algn="ctr"/>
            <a:endParaRPr kumimoji="1" lang="ja-JP" altLang="en-US" sz="3600" b="1"/>
          </a:p>
        </p:txBody>
      </p:sp>
    </p:spTree>
    <p:extLst>
      <p:ext uri="{BB962C8B-B14F-4D97-AF65-F5344CB8AC3E}">
        <p14:creationId xmlns:p14="http://schemas.microsoft.com/office/powerpoint/2010/main" val="224387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44075-60F3-6A74-9862-ADD3B62C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/>
              <a:t>2. Solution (1)</a:t>
            </a:r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3335C468-7372-1D66-C850-175128FE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18" y="2670650"/>
            <a:ext cx="7558722" cy="359886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>
                <a:ea typeface="ＭＳ Ｐゴシック"/>
              </a:rPr>
              <a:t>We should use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stainless steel plates</a:t>
            </a:r>
            <a:r>
              <a:rPr lang="en-US" altLang="ja-JP" sz="3200" dirty="0">
                <a:ea typeface="ＭＳ Ｐゴシック"/>
              </a:rPr>
              <a:t> instead of plastic packings.</a:t>
            </a:r>
          </a:p>
          <a:p>
            <a:pPr>
              <a:lnSpc>
                <a:spcPct val="150000"/>
              </a:lnSpc>
            </a:pPr>
            <a:r>
              <a:rPr lang="en-US" altLang="ja-JP" sz="3200" dirty="0">
                <a:ea typeface="ＭＳ Ｐゴシック"/>
              </a:rPr>
              <a:t>We have to buy stainless bowl for noodles.</a:t>
            </a:r>
          </a:p>
          <a:p>
            <a:pPr>
              <a:lnSpc>
                <a:spcPct val="150000"/>
              </a:lnSpc>
            </a:pPr>
            <a:endParaRPr lang="en-US" altLang="ja-JP" sz="3200" dirty="0">
              <a:ea typeface="ＭＳ Ｐゴシック"/>
            </a:endParaRPr>
          </a:p>
          <a:p>
            <a:pPr marL="0" indent="0">
              <a:buNone/>
            </a:pPr>
            <a:endParaRPr kumimoji="1" lang="ja-JP" altLang="en-US" sz="32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9B3FB5-30E2-8DB2-E095-CC763A4E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260" y="2670650"/>
            <a:ext cx="3329843" cy="29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1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44075-60F3-6A74-9862-ADD3B62C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/>
              <a:t>2. Solution (2)</a:t>
            </a:r>
            <a:endParaRPr kumimoji="1" lang="ja-JP" altLang="en-US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3335C468-7372-1D66-C850-175128FE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958" y="2113280"/>
            <a:ext cx="7558722" cy="45516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dirty="0">
                <a:ea typeface="ＭＳ Ｐゴシック"/>
              </a:rPr>
              <a:t>If we use this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Korean type</a:t>
            </a:r>
            <a:r>
              <a:rPr lang="en-US" altLang="ja-JP" sz="3200" dirty="0">
                <a:ea typeface="ＭＳ Ｐゴシック"/>
              </a:rPr>
              <a:t>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plate</a:t>
            </a:r>
            <a:r>
              <a:rPr lang="en-US" altLang="ja-JP" sz="3200" dirty="0">
                <a:ea typeface="ＭＳ Ｐゴシック"/>
              </a:rPr>
              <a:t>, we don’t have to use many plates, so we can reduce washing cost. It also means we can reduce water. Also, we don’t have to use </a:t>
            </a:r>
            <a:r>
              <a:rPr lang="en-US" altLang="ja-JP" sz="3200">
                <a:ea typeface="ＭＳ Ｐゴシック"/>
              </a:rPr>
              <a:t>a tray.</a:t>
            </a:r>
            <a:endParaRPr lang="en-US" altLang="ja-JP" sz="3200" dirty="0">
              <a:ea typeface="ＭＳ Ｐゴシック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9B3FB5-30E2-8DB2-E095-CC763A4E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260" y="2679700"/>
            <a:ext cx="3329843" cy="29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9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52B58-1953-18CC-6017-B386FE58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3.</a:t>
            </a:r>
            <a:r>
              <a:rPr lang="ja-JP" altLang="en-US"/>
              <a:t> </a:t>
            </a:r>
            <a:r>
              <a:rPr kumimoji="1" lang="en-US" altLang="ja-JP"/>
              <a:t>Audience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FADD76-3EE1-DB5F-47F5-E047F860C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We have to suggest it to our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school cafeteria </a:t>
            </a:r>
            <a:r>
              <a:rPr lang="en-US" altLang="ja-JP" sz="3200">
                <a:ea typeface="ＭＳ Ｐゴシック"/>
              </a:rPr>
              <a:t>and our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school</a:t>
            </a:r>
            <a:r>
              <a:rPr lang="en-US" altLang="ja-JP" sz="3200">
                <a:ea typeface="ＭＳ Ｐゴシック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ja-JP" sz="3200"/>
              <a:t>We think that it is good to suggest it from the school council.</a:t>
            </a: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419088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5FCAD-200D-5EB2-868D-8AE4764E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ＭＳ Ｐゴシック"/>
              </a:rPr>
              <a:t>4</a:t>
            </a:r>
            <a:r>
              <a:rPr kumimoji="1" lang="en-US" altLang="ja-JP">
                <a:ea typeface="ＭＳ Ｐゴシック"/>
              </a:rPr>
              <a:t>. Practicability </a:t>
            </a:r>
            <a:r>
              <a:rPr lang="en-US" altLang="ja-JP">
                <a:ea typeface="ＭＳ Ｐゴシック"/>
              </a:rPr>
              <a:t>(1)</a:t>
            </a:r>
            <a:endParaRPr kumimoji="1" lang="ja-JP" altLang="en-US"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4A8C3-6968-1A78-A3D8-0563562F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1" y="2103120"/>
            <a:ext cx="11440159" cy="34239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The</a:t>
            </a:r>
            <a:r>
              <a:rPr lang="ja-JP" altLang="en-US" sz="3200" dirty="0">
                <a:solidFill>
                  <a:srgbClr val="FFFF00"/>
                </a:solidFill>
                <a:ea typeface="ＭＳ Ｐゴシック"/>
              </a:rPr>
              <a:t>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cost of </a:t>
            </a:r>
            <a:r>
              <a:rPr lang="en-US" altLang="ja-JP" sz="3200" b="1" dirty="0">
                <a:solidFill>
                  <a:srgbClr val="FFFF00"/>
                </a:solidFill>
                <a:ea typeface="ＭＳ Ｐゴシック"/>
              </a:rPr>
              <a:t>stainless steel plates </a:t>
            </a:r>
            <a:endParaRPr lang="ja-JP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>
                <a:ea typeface="ＭＳ Ｐゴシック"/>
              </a:rPr>
              <a:t>994.9(yen) x 200(plates) + 1,060(yen) x 200(bowls)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 dirty="0">
                <a:ea typeface="ＭＳ Ｐゴシック"/>
              </a:rPr>
              <a:t>  + 2,700(yen) / 2000(plates) x 500(plates/day) x 2,000(days)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sz="3200" dirty="0">
                <a:ea typeface="ＭＳ Ｐゴシック"/>
              </a:rPr>
              <a:t>　</a:t>
            </a:r>
            <a:r>
              <a:rPr lang="en-US" altLang="ja-JP" sz="3200" dirty="0">
                <a:ea typeface="ＭＳ Ｐゴシック"/>
              </a:rPr>
              <a:t>…(washing cost)				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= </a:t>
            </a:r>
            <a:r>
              <a:rPr lang="en-US" altLang="ja-JP" sz="3200" b="1" dirty="0">
                <a:solidFill>
                  <a:srgbClr val="FFFF00"/>
                </a:solidFill>
                <a:ea typeface="ＭＳ Ｐゴシック"/>
              </a:rPr>
              <a:t>1,760,980(yen/10year)</a:t>
            </a:r>
            <a:endParaRPr lang="en-US" altLang="ja-JP" sz="3600" b="1" dirty="0">
              <a:solidFill>
                <a:srgbClr val="FFFF00"/>
              </a:solidFill>
              <a:ea typeface="ＭＳ Ｐゴシック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ADB169-F000-6FC2-32D5-9E978D1F9506}"/>
              </a:ext>
            </a:extLst>
          </p:cNvPr>
          <p:cNvSpPr txBox="1"/>
          <p:nvPr/>
        </p:nvSpPr>
        <p:spPr>
          <a:xfrm>
            <a:off x="0" y="5527040"/>
            <a:ext cx="12263119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>
                <a:ea typeface="ＭＳ Ｐゴシック"/>
              </a:rPr>
              <a:t>Source</a:t>
            </a:r>
          </a:p>
          <a:p>
            <a:r>
              <a:rPr lang="ja-JP" sz="1400">
                <a:solidFill>
                  <a:srgbClr val="FFFF00"/>
                </a:solidFill>
                <a:ea typeface="ＭＳ Ｐゴシック"/>
              </a:rPr>
              <a:t>Stainless Korean Plate</a:t>
            </a:r>
            <a:r>
              <a:rPr lang="ja-JP" altLang="en-US" sz="1400">
                <a:solidFill>
                  <a:srgbClr val="FFFF00"/>
                </a:solidFill>
                <a:ea typeface="ＭＳ Ｐゴシック"/>
              </a:rPr>
              <a:t> </a:t>
            </a:r>
            <a:r>
              <a:rPr lang="ja-JP" sz="1400">
                <a:ea typeface="ＭＳ Ｐゴシック"/>
              </a:rPr>
              <a:t>(</a:t>
            </a:r>
            <a:r>
              <a:rPr lang="en-US" altLang="ja-JP" sz="1400">
                <a:ea typeface="+mn-lt"/>
                <a:cs typeface="+mn-lt"/>
              </a:rPr>
              <a:t>https://www.amazon.com/s?k=Korean+lunch+plate&amp;ref=nb_sb_noss</a:t>
            </a:r>
            <a:r>
              <a:rPr lang="ja-JP" sz="1400">
                <a:ea typeface="ＭＳ Ｐゴシック"/>
              </a:rPr>
              <a:t>)</a:t>
            </a:r>
            <a:endParaRPr lang="ja-JP" sz="1400"/>
          </a:p>
          <a:p>
            <a:r>
              <a:rPr lang="ja-JP" sz="1400">
                <a:solidFill>
                  <a:srgbClr val="FFFF00"/>
                </a:solidFill>
                <a:ea typeface="ＭＳ Ｐゴシック"/>
              </a:rPr>
              <a:t>Stainless Bow</a:t>
            </a:r>
            <a:r>
              <a:rPr lang="en-US" altLang="ja-JP" sz="1400">
                <a:solidFill>
                  <a:srgbClr val="FFFF00"/>
                </a:solidFill>
                <a:ea typeface="ＭＳ Ｐゴシック"/>
              </a:rPr>
              <a:t>l</a:t>
            </a:r>
            <a:r>
              <a:rPr lang="ja-JP" altLang="en-US" sz="1400">
                <a:solidFill>
                  <a:srgbClr val="FFFF00"/>
                </a:solidFill>
                <a:ea typeface="ＭＳ Ｐゴシック"/>
              </a:rPr>
              <a:t> </a:t>
            </a:r>
            <a:r>
              <a:rPr lang="ja-JP" altLang="en-US" sz="1400">
                <a:ea typeface="ＭＳ Ｐゴシック"/>
              </a:rPr>
              <a:t>(</a:t>
            </a:r>
            <a:r>
              <a:rPr lang="en-US" altLang="ja-JP" sz="1400">
                <a:ea typeface="+mn-lt"/>
                <a:cs typeface="+mn-lt"/>
              </a:rPr>
              <a:t>https://www.amazon.com/s?k=Stainless+bowl&amp;crid=541725NCLPEO&amp;sprefix=stainless+bowl%2Caps%2C289&amp;ref=nb_sb_noss_1</a:t>
            </a:r>
            <a:r>
              <a:rPr lang="en-US" altLang="ja-JP" sz="1400">
                <a:ea typeface="ＭＳ Ｐゴシック"/>
                <a:cs typeface="+mn-lt"/>
              </a:rPr>
              <a:t>,</a:t>
            </a:r>
          </a:p>
          <a:p>
            <a:r>
              <a:rPr lang="en-US" sz="1400">
                <a:ea typeface="ＭＳ Ｐゴシック"/>
                <a:cs typeface="+mn-lt"/>
              </a:rPr>
              <a:t>   </a:t>
            </a:r>
            <a:r>
              <a:rPr lang="en-US" sz="1400">
                <a:ea typeface="+mn-lt"/>
                <a:cs typeface="+mn-lt"/>
              </a:rPr>
              <a:t>https://search.rakuten.co.jp/search/mall/%E3%81%A9%E3%82%93%E3%81%B6%E3%82%8A+%E3%82%B9%E3%83%86%E3%83%B3%E3%83%AC%E3%82%B9/</a:t>
            </a:r>
            <a:r>
              <a:rPr lang="en-US" altLang="ja-JP" sz="1400">
                <a:ea typeface="ＭＳ Ｐゴシック"/>
              </a:rPr>
              <a:t>)</a:t>
            </a:r>
            <a:endParaRPr lang="ja-JP" sz="1400">
              <a:ea typeface="ＭＳ Ｐゴシック"/>
            </a:endParaRPr>
          </a:p>
          <a:p>
            <a:r>
              <a:rPr lang="ja-JP" sz="1400">
                <a:solidFill>
                  <a:srgbClr val="FFFF00"/>
                </a:solidFill>
                <a:ea typeface="ＭＳ Ｐゴシック"/>
              </a:rPr>
              <a:t>Washing cost </a:t>
            </a:r>
            <a:r>
              <a:rPr lang="ja-JP" sz="1400">
                <a:ea typeface="ＭＳ Ｐゴシック"/>
              </a:rPr>
              <a:t>(</a:t>
            </a:r>
            <a:r>
              <a:rPr lang="en-US" altLang="ja-JP" sz="1400">
                <a:ea typeface="+mn-lt"/>
                <a:cs typeface="+mn-lt"/>
              </a:rPr>
              <a:t>https://panasonic.biz/appliance/cold_chain/dishwasher/merit.html</a:t>
            </a:r>
            <a:r>
              <a:rPr lang="en-US" altLang="ja-JP" sz="1400">
                <a:ea typeface="ＭＳ Ｐゴシック"/>
                <a:cs typeface="+mn-lt"/>
              </a:rPr>
              <a:t>)</a:t>
            </a:r>
            <a:endParaRPr lang="ja-JP" altLang="en-US" sz="140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53047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E64E1-B271-5F7E-471D-FA0ED3DE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4. </a:t>
            </a:r>
            <a:r>
              <a:rPr lang="en-US" altLang="ja-JP">
                <a:ea typeface="ＭＳ Ｐゴシック"/>
              </a:rPr>
              <a:t>Practicability</a:t>
            </a:r>
            <a:r>
              <a:rPr lang="ja-JP" altLang="en-US">
                <a:ea typeface="ＭＳ Ｐゴシック"/>
              </a:rPr>
              <a:t> (2)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BF4E72-7FEE-ECFB-C9DC-7289A7D03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739519" cy="35993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3200" dirty="0">
                <a:solidFill>
                  <a:srgbClr val="FFFF00"/>
                </a:solidFill>
                <a:ea typeface="ＭＳ Ｐゴシック"/>
              </a:rPr>
              <a:t>Washing cost of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stainless steel plates</a:t>
            </a:r>
            <a:endParaRPr lang="ja-JP" altLang="en-US" sz="3200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3200" dirty="0">
                <a:ea typeface="ＭＳ Ｐゴシック"/>
              </a:rPr>
              <a:t>Because of COVID-19, we have to make sure that the plates are clean and sterilize.</a:t>
            </a:r>
            <a:endParaRPr lang="en-US" altLang="ja-JP" sz="3200" dirty="0">
              <a:ea typeface="ＭＳ Ｐゴシック"/>
            </a:endParaRPr>
          </a:p>
          <a:p>
            <a:pPr>
              <a:lnSpc>
                <a:spcPct val="150000"/>
              </a:lnSpc>
            </a:pPr>
            <a:r>
              <a:rPr lang="en-US" altLang="ja-JP" sz="3200" dirty="0">
                <a:ea typeface="ＭＳ Ｐゴシック"/>
              </a:rPr>
              <a:t>If we use pottery, washing many plates at once is difficult because we can’t use chemical soap and heat. </a:t>
            </a:r>
            <a:endParaRPr lang="ja-JP" altLang="en-US" sz="3200" dirty="0">
              <a:ea typeface="ＭＳ Ｐゴシック"/>
            </a:endParaRPr>
          </a:p>
          <a:p>
            <a:pPr>
              <a:lnSpc>
                <a:spcPct val="150000"/>
              </a:lnSpc>
            </a:pPr>
            <a:endParaRPr lang="ja-JP" altLang="en-US" sz="3200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70628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698906-F123-49CB-B633-247AC4870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AFB628-1D2A-4F5A-8E9E-2C8E917B5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D86D9DA-31E3-48ED-9F77-2D8B649BD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C6B320-AA89-4C19-89F7-71D46B26B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2AF940A-D617-F93E-50E2-1D84F7CF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/>
          </a:bodyPr>
          <a:lstStyle/>
          <a:p>
            <a:r>
              <a:rPr kumimoji="1" lang="en-US" altLang="ja-JP"/>
              <a:t>4. </a:t>
            </a:r>
            <a:r>
              <a:rPr lang="en-US" altLang="ja-JP"/>
              <a:t>Practicability (3)</a:t>
            </a:r>
            <a:endParaRPr kumimoji="1" lang="ja-JP" alt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C1383A-2DFB-422E-8FB2-1CABD96DD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6667DD-EBC1-F7FB-3F0C-765981185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1" y="2336873"/>
            <a:ext cx="5378764" cy="35993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 </a:t>
            </a:r>
            <a:r>
              <a:rPr kumimoji="1" lang="en-US" altLang="ja-JP" sz="3200">
                <a:ea typeface="ＭＳ Ｐゴシック"/>
              </a:rPr>
              <a:t>According to this website, washing cost is a</a:t>
            </a:r>
            <a:r>
              <a:rPr lang="en-US" altLang="ja-JP" sz="3200">
                <a:ea typeface="ＭＳ Ｐゴシック"/>
              </a:rPr>
              <a:t>bout </a:t>
            </a:r>
            <a:endParaRPr lang="en-US" altLang="ja-JP" sz="3200"/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2,700(yen) / 2,000 </a:t>
            </a: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plates</a:t>
            </a:r>
            <a:r>
              <a:rPr kumimoji="1" lang="en-US" altLang="ja-JP" sz="3200">
                <a:ea typeface="ＭＳ Ｐゴシック"/>
              </a:rPr>
              <a:t>.</a:t>
            </a:r>
            <a:endParaRPr lang="en-US" altLang="ja-JP" sz="3200">
              <a:ea typeface="ＭＳ Ｐゴシック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ja-JP" sz="2000"/>
          </a:p>
          <a:p>
            <a:pPr marL="0" indent="0">
              <a:lnSpc>
                <a:spcPct val="150000"/>
              </a:lnSpc>
              <a:buNone/>
            </a:pPr>
            <a:endParaRPr kumimoji="1" lang="en-US" altLang="ja-JP" sz="2000"/>
          </a:p>
          <a:p>
            <a:pPr marL="0" indent="0">
              <a:lnSpc>
                <a:spcPct val="150000"/>
              </a:lnSpc>
              <a:buNone/>
            </a:pPr>
            <a:endParaRPr lang="en-US" altLang="ja-JP" sz="2000"/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ja-JP" sz="2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rebuchet MS" panose="020B0603020202020204"/>
              <a:ea typeface="ＭＳ Ｐゴシック" panose="020B0600070205080204" pitchFamily="50" charset="-128"/>
              <a:cs typeface="+mn-cs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ja-JP" sz="2000">
              <a:latin typeface="Trebuchet MS" panose="020B0603020202020204"/>
              <a:ea typeface="ＭＳ Ｐゴシック" panose="020B0600070205080204" pitchFamily="50" charset="-128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lnSpc>
                <a:spcPct val="150000"/>
              </a:lnSpc>
              <a:buNone/>
            </a:pPr>
            <a:endParaRPr kumimoji="1" lang="ja-JP" alt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EE119-0AC6-45BA-AE5E-A86AFE1C7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 descr="タイムライン&#10;&#10;自動的に生成された説明">
            <a:extLst>
              <a:ext uri="{FF2B5EF4-FFF2-40B4-BE49-F238E27FC236}">
                <a16:creationId xmlns:a16="http://schemas.microsoft.com/office/drawing/2014/main" id="{11F73308-E982-4F83-4C72-369A262697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759" t="4367" r="11808" b="1343"/>
          <a:stretch/>
        </p:blipFill>
        <p:spPr>
          <a:xfrm>
            <a:off x="7183120" y="1348152"/>
            <a:ext cx="3911600" cy="3040969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FFA2CA-5DC1-6C83-34DE-80321396C285}"/>
              </a:ext>
            </a:extLst>
          </p:cNvPr>
          <p:cNvSpPr txBox="1"/>
          <p:nvPr/>
        </p:nvSpPr>
        <p:spPr>
          <a:xfrm>
            <a:off x="6729987" y="5222240"/>
            <a:ext cx="4781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rebuchet MS" panose="020B0603020202020204"/>
                <a:ea typeface="ＭＳ Ｐゴシック" panose="020B0600070205080204" pitchFamily="50" charset="-128"/>
                <a:cs typeface="+mn-cs"/>
              </a:rPr>
              <a:t>https://panasonic.biz/appliance/cold_chain/dishwasher/merit.html</a:t>
            </a:r>
          </a:p>
        </p:txBody>
      </p:sp>
    </p:spTree>
    <p:extLst>
      <p:ext uri="{BB962C8B-B14F-4D97-AF65-F5344CB8AC3E}">
        <p14:creationId xmlns:p14="http://schemas.microsoft.com/office/powerpoint/2010/main" val="42186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35FCAD-200D-5EB2-868D-8AE4764E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ＭＳ Ｐゴシック"/>
              </a:rPr>
              <a:t>4</a:t>
            </a:r>
            <a:r>
              <a:rPr kumimoji="1" lang="en-US" altLang="ja-JP">
                <a:ea typeface="ＭＳ Ｐゴシック"/>
              </a:rPr>
              <a:t>. Practicability </a:t>
            </a:r>
            <a:r>
              <a:rPr lang="en-US" altLang="ja-JP">
                <a:ea typeface="ＭＳ Ｐゴシック"/>
              </a:rPr>
              <a:t>(4)</a:t>
            </a:r>
            <a:endParaRPr kumimoji="1" lang="ja-JP" altLang="en-US">
              <a:ea typeface="ＭＳ Ｐゴシック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64A8C3-6968-1A78-A3D8-0563562F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03120"/>
            <a:ext cx="9613861" cy="455168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The cost of </a:t>
            </a:r>
            <a:r>
              <a:rPr lang="en-US" altLang="ja-JP" sz="3200" b="1">
                <a:solidFill>
                  <a:srgbClr val="FFFF00"/>
                </a:solidFill>
                <a:ea typeface="ＭＳ Ｐゴシック"/>
              </a:rPr>
              <a:t>plastic </a:t>
            </a:r>
            <a:r>
              <a:rPr kumimoji="1" lang="en-US" altLang="ja-JP" sz="3200" b="1">
                <a:solidFill>
                  <a:srgbClr val="FFFF00"/>
                </a:solidFill>
                <a:ea typeface="ＭＳ Ｐゴシック"/>
              </a:rPr>
              <a:t>packings	</a:t>
            </a:r>
            <a:endParaRPr lang="ja-JP" altLang="en-US" b="1">
              <a:ea typeface="ＭＳ Ｐゴシック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9.655(</a:t>
            </a:r>
            <a:r>
              <a:rPr kumimoji="1" lang="en-US" altLang="ja-JP" sz="3200">
                <a:ea typeface="ＭＳ Ｐゴシック"/>
              </a:rPr>
              <a:t>yen) x 3(packs at once) x 500(students/day)</a:t>
            </a:r>
            <a:r>
              <a:rPr lang="en-US" altLang="ja-JP" sz="3200">
                <a:ea typeface="ＭＳ Ｐゴシック"/>
              </a:rPr>
              <a:t>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ja-JP" sz="3200">
                <a:ea typeface="ＭＳ Ｐゴシック"/>
              </a:rPr>
              <a:t>	</a:t>
            </a:r>
            <a:r>
              <a:rPr kumimoji="1" lang="en-US" altLang="ja-JP" sz="3200">
                <a:ea typeface="ＭＳ Ｐゴシック"/>
              </a:rPr>
              <a:t>x 2000(days) </a:t>
            </a: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= </a:t>
            </a:r>
            <a:r>
              <a:rPr lang="en-US" altLang="ja-JP" sz="3600" b="1">
                <a:solidFill>
                  <a:srgbClr val="FFFF00"/>
                </a:solidFill>
                <a:ea typeface="ＭＳ Ｐゴシック"/>
              </a:rPr>
              <a:t>28,965,000</a:t>
            </a:r>
            <a:r>
              <a:rPr kumimoji="1" lang="en-US" altLang="ja-JP" sz="3600" b="1">
                <a:solidFill>
                  <a:srgbClr val="FFFF00"/>
                </a:solidFill>
                <a:ea typeface="ＭＳ Ｐゴシック"/>
              </a:rPr>
              <a:t>(yen/10year)</a:t>
            </a:r>
            <a:r>
              <a:rPr lang="en-US" altLang="ja-JP" sz="3600" b="1">
                <a:solidFill>
                  <a:srgbClr val="FFFF00"/>
                </a:solidFill>
                <a:ea typeface="ＭＳ Ｐゴシック"/>
              </a:rPr>
              <a:t> </a:t>
            </a:r>
            <a:endParaRPr lang="en-US" altLang="ja-JP" sz="3200" b="1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ja-JP" sz="3200">
              <a:solidFill>
                <a:srgbClr val="FFFF00"/>
              </a:solidFill>
              <a:ea typeface="ＭＳ Ｐゴシック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1E0F86-7EBB-BE3A-C7BC-E8FE3941EC95}"/>
              </a:ext>
            </a:extLst>
          </p:cNvPr>
          <p:cNvSpPr txBox="1"/>
          <p:nvPr/>
        </p:nvSpPr>
        <p:spPr>
          <a:xfrm>
            <a:off x="-35560" y="6104772"/>
            <a:ext cx="1226311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altLang="ja-JP">
                <a:ea typeface="ＭＳ Ｐゴシック"/>
              </a:rPr>
              <a:t>Source</a:t>
            </a:r>
          </a:p>
          <a:p>
            <a:r>
              <a:rPr lang="fr-FR" altLang="ja-JP" sz="1400">
                <a:ea typeface="ＭＳ Ｐゴシック"/>
              </a:rPr>
              <a:t>https://search.rakuten.co.jp/search/mall/%E6%A5%AD%E5%8B%99%E7%94%A8+%E7%99%BA%E6%B3%A1+%E5%BC%81%E5%BD%93%E7%AE%B1/</a:t>
            </a:r>
            <a:endParaRPr lang="fr-FR" altLang="ja-JP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0553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E7AC4C-AE8B-7302-B84C-6B9DE548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4. </a:t>
            </a:r>
            <a:r>
              <a:rPr lang="en-US" altLang="ja-JP">
                <a:ea typeface="ＭＳ Ｐゴシック"/>
              </a:rPr>
              <a:t>Practicability</a:t>
            </a:r>
            <a:r>
              <a:rPr lang="ja-JP" altLang="en-US">
                <a:ea typeface="ＭＳ Ｐゴシック"/>
              </a:rPr>
              <a:t> (</a:t>
            </a:r>
            <a:r>
              <a:rPr lang="en-US" altLang="ja-JP">
                <a:ea typeface="ＭＳ Ｐゴシック"/>
              </a:rPr>
              <a:t>5</a:t>
            </a:r>
            <a:r>
              <a:rPr lang="ja-JP" altLang="en-US">
                <a:ea typeface="ＭＳ Ｐゴシック"/>
              </a:rPr>
              <a:t>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4045DD-384E-0475-6ADD-D336B68A2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altLang="ja-JP" sz="3200" dirty="0">
                <a:ea typeface="ＭＳ Ｐゴシック"/>
              </a:rPr>
              <a:t>The</a:t>
            </a:r>
            <a:r>
              <a:rPr lang="ja-JP" altLang="en-US" sz="3200" dirty="0">
                <a:ea typeface="ＭＳ Ｐゴシック"/>
              </a:rPr>
              <a:t> </a:t>
            </a:r>
            <a:r>
              <a:rPr lang="en-US" altLang="ja-JP" sz="3200" dirty="0">
                <a:ea typeface="ＭＳ Ｐゴシック"/>
              </a:rPr>
              <a:t>cost of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stainless steel plates</a:t>
            </a:r>
            <a:r>
              <a:rPr lang="en-US" altLang="ja-JP" sz="3200" dirty="0">
                <a:ea typeface="ＭＳ Ｐゴシック"/>
              </a:rPr>
              <a:t>							 	 1,760,980(yen/10year)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kumimoji="1" lang="en-US" altLang="ja-JP" sz="3200" dirty="0">
                <a:ea typeface="ＭＳ Ｐゴシック"/>
              </a:rPr>
              <a:t>The cost of </a:t>
            </a:r>
            <a:r>
              <a:rPr lang="en-US" altLang="ja-JP" sz="3200" dirty="0">
                <a:solidFill>
                  <a:srgbClr val="FFFF00"/>
                </a:solidFill>
                <a:ea typeface="ＭＳ Ｐゴシック"/>
              </a:rPr>
              <a:t>plastic </a:t>
            </a:r>
            <a:r>
              <a:rPr kumimoji="1" lang="en-US" altLang="ja-JP" sz="3200" dirty="0">
                <a:solidFill>
                  <a:srgbClr val="FFFF00"/>
                </a:solidFill>
                <a:ea typeface="ＭＳ Ｐゴシック"/>
              </a:rPr>
              <a:t>packings</a:t>
            </a:r>
            <a:r>
              <a:rPr kumimoji="1" lang="en-US" altLang="ja-JP" sz="3200" dirty="0">
                <a:ea typeface="ＭＳ Ｐゴシック"/>
              </a:rPr>
              <a:t>  						</a:t>
            </a:r>
            <a:r>
              <a:rPr lang="en-US" altLang="ja-JP" sz="3200" dirty="0">
                <a:ea typeface="ＭＳ Ｐゴシック"/>
              </a:rPr>
              <a:t>			28,965,000(yen/10year)</a:t>
            </a:r>
          </a:p>
          <a:p>
            <a:pPr marL="0" indent="0">
              <a:buNone/>
            </a:pP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8274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BE64E1-B271-5F7E-471D-FA0ED3DE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>
                <a:ea typeface="ＭＳ Ｐゴシック"/>
              </a:rPr>
              <a:t>4. </a:t>
            </a:r>
            <a:r>
              <a:rPr lang="en-US" altLang="ja-JP">
                <a:ea typeface="ＭＳ Ｐゴシック"/>
              </a:rPr>
              <a:t>Practicability</a:t>
            </a:r>
            <a:r>
              <a:rPr lang="ja-JP" altLang="en-US">
                <a:ea typeface="ＭＳ Ｐゴシック"/>
              </a:rPr>
              <a:t> (</a:t>
            </a:r>
            <a:r>
              <a:rPr lang="en-US" altLang="ja-JP">
                <a:ea typeface="ＭＳ Ｐゴシック"/>
              </a:rPr>
              <a:t>6</a:t>
            </a:r>
            <a:r>
              <a:rPr lang="ja-JP" altLang="en-US">
                <a:ea typeface="ＭＳ Ｐゴシック"/>
              </a:rPr>
              <a:t>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BF4E72-7FEE-ECFB-C9DC-7289A7D03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11" y="2287712"/>
            <a:ext cx="10579909" cy="35993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ja-JP" altLang="en-US" sz="3200">
                <a:solidFill>
                  <a:srgbClr val="FFFF00"/>
                </a:solidFill>
                <a:ea typeface="ＭＳ Ｐゴシック"/>
              </a:rPr>
              <a:t>Why stainless? </a:t>
            </a:r>
            <a:endParaRPr lang="en-US" altLang="ja-JP" sz="3200">
              <a:solidFill>
                <a:srgbClr val="FFFF00"/>
              </a:solidFill>
              <a:ea typeface="ＭＳ Ｐゴシック"/>
            </a:endParaRPr>
          </a:p>
          <a:p>
            <a:pPr>
              <a:lnSpc>
                <a:spcPct val="150000"/>
              </a:lnSpc>
            </a:pPr>
            <a:r>
              <a:rPr lang="ja-JP" altLang="en-US" sz="3200">
                <a:ea typeface="ＭＳ Ｐゴシック"/>
              </a:rPr>
              <a:t>COVID-19</a:t>
            </a:r>
          </a:p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It is more reasonable than aluminum plate.</a:t>
            </a:r>
          </a:p>
          <a:p>
            <a:pPr>
              <a:lnSpc>
                <a:spcPct val="150000"/>
              </a:lnSpc>
            </a:pPr>
            <a:r>
              <a:rPr lang="ja-JP" altLang="en-US" sz="3200">
                <a:ea typeface="ＭＳ Ｐゴシック"/>
              </a:rPr>
              <a:t>If we use paper plates, it will not be recycled, so we have to burn it. Then, a lot of CO</a:t>
            </a:r>
            <a:r>
              <a:rPr lang="ja-JP" altLang="en-US">
                <a:ea typeface="ＭＳ Ｐゴシック"/>
              </a:rPr>
              <a:t>2</a:t>
            </a:r>
            <a:r>
              <a:rPr lang="ja-JP" altLang="en-US" sz="3200">
                <a:ea typeface="ＭＳ Ｐゴシック"/>
              </a:rPr>
              <a:t> will be emited.</a:t>
            </a:r>
          </a:p>
          <a:p>
            <a:pPr>
              <a:lnSpc>
                <a:spcPct val="150000"/>
              </a:lnSpc>
            </a:pPr>
            <a:endParaRPr lang="ja-JP" altLang="en-US" sz="320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0785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57BD41-5010-84E6-7F17-41841DDD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>
                <a:ea typeface="ＭＳ Ｐゴシック"/>
              </a:rPr>
              <a:t>5. Digital </a:t>
            </a:r>
            <a:r>
              <a:rPr lang="en-US" altLang="ja-JP">
                <a:ea typeface="ＭＳ Ｐゴシック"/>
              </a:rPr>
              <a:t>media </a:t>
            </a:r>
            <a:r>
              <a:rPr kumimoji="1" lang="en-US" altLang="ja-JP">
                <a:ea typeface="ＭＳ Ｐゴシック"/>
              </a:rPr>
              <a:t>vs Analog</a:t>
            </a:r>
            <a:r>
              <a:rPr lang="en-US" altLang="ja-JP">
                <a:ea typeface="ＭＳ Ｐゴシック"/>
              </a:rPr>
              <a:t> media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F870DC-9B69-2558-173A-8C776269A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3200">
                <a:ea typeface="ＭＳ Ｐゴシック"/>
              </a:rPr>
              <a:t>The </a:t>
            </a:r>
            <a:r>
              <a:rPr lang="en-US" altLang="ja-JP" sz="3200">
                <a:ea typeface="ＭＳ Ｐゴシック"/>
              </a:rPr>
              <a:t>audiences</a:t>
            </a:r>
            <a:r>
              <a:rPr kumimoji="1" lang="en-US" altLang="ja-JP" sz="3200">
                <a:ea typeface="ＭＳ Ｐゴシック"/>
              </a:rPr>
              <a:t> </a:t>
            </a:r>
            <a:r>
              <a:rPr lang="en-US" altLang="ja-JP" sz="3200">
                <a:ea typeface="ＭＳ Ｐゴシック"/>
              </a:rPr>
              <a:t>are</a:t>
            </a:r>
            <a:r>
              <a:rPr kumimoji="1" lang="en-US" altLang="ja-JP" sz="3200">
                <a:ea typeface="ＭＳ Ｐゴシック"/>
              </a:rPr>
              <a:t> </a:t>
            </a:r>
            <a:r>
              <a:rPr kumimoji="1" lang="en-US" altLang="ja-JP" sz="3200">
                <a:solidFill>
                  <a:srgbClr val="FFFF00"/>
                </a:solidFill>
                <a:ea typeface="ＭＳ Ｐゴシック"/>
              </a:rPr>
              <a:t>Japanese </a:t>
            </a:r>
            <a:r>
              <a:rPr lang="en-US" altLang="ja-JP" sz="3200">
                <a:solidFill>
                  <a:srgbClr val="FFFF00"/>
                </a:solidFill>
                <a:ea typeface="ＭＳ Ｐゴシック"/>
              </a:rPr>
              <a:t>company</a:t>
            </a:r>
            <a:r>
              <a:rPr lang="en-US" altLang="ja-JP" sz="3200">
                <a:ea typeface="ＭＳ Ｐゴシック"/>
              </a:rPr>
              <a:t> and </a:t>
            </a:r>
            <a:r>
              <a:rPr kumimoji="1" lang="en-US" altLang="ja-JP" sz="3200">
                <a:ea typeface="ＭＳ Ｐゴシック"/>
              </a:rPr>
              <a:t>school, so they require </a:t>
            </a:r>
            <a:r>
              <a:rPr lang="en-US" altLang="ja-JP" sz="3200">
                <a:ea typeface="ＭＳ Ｐゴシック"/>
              </a:rPr>
              <a:t>a </a:t>
            </a:r>
            <a:r>
              <a:rPr kumimoji="1" lang="en-US" altLang="ja-JP" sz="3200">
                <a:ea typeface="ＭＳ Ｐゴシック"/>
              </a:rPr>
              <a:t>paper document.</a:t>
            </a:r>
          </a:p>
          <a:p>
            <a:pPr>
              <a:lnSpc>
                <a:spcPct val="150000"/>
              </a:lnSpc>
            </a:pPr>
            <a:r>
              <a:rPr kumimoji="1" lang="en-US" altLang="ja-JP" sz="3200"/>
              <a:t>So, we have to print our opinion.</a:t>
            </a:r>
          </a:p>
          <a:p>
            <a:pPr>
              <a:lnSpc>
                <a:spcPct val="150000"/>
              </a:lnSpc>
            </a:pPr>
            <a:r>
              <a:rPr lang="en-US" altLang="ja-JP" sz="3200">
                <a:ea typeface="ＭＳ Ｐゴシック"/>
              </a:rPr>
              <a:t>It costs only 20 yen to submit it </a:t>
            </a:r>
            <a:r>
              <a:rPr kumimoji="1" lang="en-US" altLang="ja-JP" sz="3200">
                <a:ea typeface="ＭＳ Ｐゴシック"/>
              </a:rPr>
              <a:t>to our school and </a:t>
            </a:r>
            <a:r>
              <a:rPr lang="en-US" altLang="ja-JP" sz="3200">
                <a:ea typeface="ＭＳ Ｐゴシック"/>
              </a:rPr>
              <a:t>our </a:t>
            </a:r>
            <a:r>
              <a:rPr kumimoji="1" lang="en-US" altLang="ja-JP" sz="3200">
                <a:ea typeface="ＭＳ Ｐゴシック"/>
              </a:rPr>
              <a:t>school cafeteria company.</a:t>
            </a:r>
            <a:endParaRPr lang="en-US" altLang="ja-JP" sz="3200">
              <a:ea typeface="ＭＳ Ｐゴシック"/>
            </a:endParaRPr>
          </a:p>
          <a:p>
            <a:endParaRPr kumimoji="1" lang="ja-JP" altLang="en-US" sz="32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45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ベルリン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Demolish Plastic Packings! latest version</Template>
  <TotalTime>0</TotalTime>
  <Words>806</Words>
  <Application>Microsoft Office PowerPoint</Application>
  <PresentationFormat>ワイド画面</PresentationFormat>
  <Paragraphs>74</Paragraphs>
  <Slides>15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游ゴシック</vt:lpstr>
      <vt:lpstr>Arial</vt:lpstr>
      <vt:lpstr>Calibri</vt:lpstr>
      <vt:lpstr>Palatino Linotype</vt:lpstr>
      <vt:lpstr>Trebuchet MS</vt:lpstr>
      <vt:lpstr>ベルリン</vt:lpstr>
      <vt:lpstr>Demolish Plastic Packings!</vt:lpstr>
      <vt:lpstr>1. Problem (1)</vt:lpstr>
      <vt:lpstr>1. Problem (2)</vt:lpstr>
      <vt:lpstr>1. Problem (3)</vt:lpstr>
      <vt:lpstr>PowerPoint プレゼンテーション</vt:lpstr>
      <vt:lpstr>2. Solution (1)</vt:lpstr>
      <vt:lpstr>2. Solution (2)</vt:lpstr>
      <vt:lpstr>3. Audience</vt:lpstr>
      <vt:lpstr>4. Practicability (1)</vt:lpstr>
      <vt:lpstr>4. Practicability (2)</vt:lpstr>
      <vt:lpstr>4. Practicability (3)</vt:lpstr>
      <vt:lpstr>4. Practicability (4)</vt:lpstr>
      <vt:lpstr>4. Practicability (5)</vt:lpstr>
      <vt:lpstr>4. Practicability (6)</vt:lpstr>
      <vt:lpstr>5. Digital media vs Analog media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Demolish Plastic Packings!</dc:title>
  <dc:creator>田村 謙悟</dc:creator>
  <cp:lastModifiedBy>田村 謙悟</cp:lastModifiedBy>
  <cp:revision>1</cp:revision>
  <dcterms:created xsi:type="dcterms:W3CDTF">2022-08-21T00:09:09Z</dcterms:created>
  <dcterms:modified xsi:type="dcterms:W3CDTF">2022-08-21T00:09:27Z</dcterms:modified>
</cp:coreProperties>
</file>